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</p:sldIdLst>
  <p:sldSz cx="21599525" cy="5039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604" userDrawn="1">
          <p15:clr>
            <a:srgbClr val="A4A3A4"/>
          </p15:clr>
        </p15:guide>
        <p15:guide id="2" pos="68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8DC1"/>
    <a:srgbClr val="555BA7"/>
    <a:srgbClr val="0000FF"/>
    <a:srgbClr val="CEE0EC"/>
    <a:srgbClr val="3364AB"/>
    <a:srgbClr val="E1E1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1914" y="-4059"/>
      </p:cViewPr>
      <p:guideLst>
        <p:guide orient="horz" pos="14604"/>
        <p:guide pos="68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8248329"/>
            <a:ext cx="18359596" cy="17546649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26471644"/>
            <a:ext cx="16199644" cy="12168318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927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113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12565002"/>
            <a:ext cx="18629590" cy="20964976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33728315"/>
            <a:ext cx="18629590" cy="11024985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6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13416653"/>
            <a:ext cx="9179798" cy="3197830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13416653"/>
            <a:ext cx="9179798" cy="3197830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318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683342"/>
            <a:ext cx="18629590" cy="974166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12354992"/>
            <a:ext cx="9137610" cy="6054990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8409982"/>
            <a:ext cx="9137610" cy="2707831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12354992"/>
            <a:ext cx="9182611" cy="6054990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8409982"/>
            <a:ext cx="9182611" cy="2707831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0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067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302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3359997"/>
            <a:ext cx="6966409" cy="11759988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7256671"/>
            <a:ext cx="10934760" cy="35816631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15119985"/>
            <a:ext cx="6966409" cy="28011643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82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3359997"/>
            <a:ext cx="6966409" cy="11759988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7256671"/>
            <a:ext cx="10934760" cy="35816631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15119985"/>
            <a:ext cx="6966409" cy="28011643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69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65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2683331"/>
            <a:ext cx="4657398" cy="4271162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2683331"/>
            <a:ext cx="13702199" cy="4271162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E1C1-3317-4955-BB82-30AC702206B0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752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2683342"/>
            <a:ext cx="18629590" cy="9741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13416653"/>
            <a:ext cx="18629590" cy="31978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46713298"/>
            <a:ext cx="4859893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AE1C1-3317-4955-BB82-30AC702206B0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46713298"/>
            <a:ext cx="7289840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46713298"/>
            <a:ext cx="4859893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69276-D3F1-4D54-B47D-353376E139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483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59996" rtl="0" eaLnBrk="1" latinLnBrk="1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1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1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1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23" Type="http://schemas.openxmlformats.org/officeDocument/2006/relationships/image" Target="../media/image22.jpe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64C8C-E319-1D1F-92CC-B9464E93D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E822EE-E2F1-5BC9-D6D4-1E3053F55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3" y="0"/>
            <a:ext cx="21599525" cy="503999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98A117-9CE2-E493-1790-BFF99A27AC76}"/>
              </a:ext>
            </a:extLst>
          </p:cNvPr>
          <p:cNvSpPr txBox="1"/>
          <p:nvPr/>
        </p:nvSpPr>
        <p:spPr>
          <a:xfrm>
            <a:off x="1227226" y="8494100"/>
            <a:ext cx="189936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아이들을 위한 그림책 </a:t>
            </a:r>
            <a:r>
              <a:rPr lang="ko-KR" altLang="en-US" sz="4800" b="1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생성기</a:t>
            </a:r>
            <a:endParaRPr lang="ko-KR" altLang="en-US" sz="4800"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1DEA7-DA24-BB24-4EE7-33D9BBFF0884}"/>
              </a:ext>
            </a:extLst>
          </p:cNvPr>
          <p:cNvSpPr txBox="1"/>
          <p:nvPr/>
        </p:nvSpPr>
        <p:spPr>
          <a:xfrm>
            <a:off x="1397824" y="6458403"/>
            <a:ext cx="189936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꾸물꾸물 꿈을 꾸는 꼬마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F0C749A-A03F-2EAF-92BC-705F6FAEE167}"/>
              </a:ext>
            </a:extLst>
          </p:cNvPr>
          <p:cNvSpPr>
            <a:spLocks/>
          </p:cNvSpPr>
          <p:nvPr/>
        </p:nvSpPr>
        <p:spPr>
          <a:xfrm>
            <a:off x="1370246" y="12416971"/>
            <a:ext cx="18721153" cy="1377273"/>
          </a:xfrm>
          <a:prstGeom prst="roundRect">
            <a:avLst>
              <a:gd name="adj" fmla="val 50000"/>
            </a:avLst>
          </a:prstGeom>
          <a:solidFill>
            <a:srgbClr val="103C95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254000" tIns="45720" rIns="254000" bIns="45720" numCol="1" anchor="ctr">
            <a:noAutofit/>
          </a:bodyPr>
          <a:lstStyle/>
          <a:p>
            <a:pPr defTabSz="2190115">
              <a:defRPr/>
            </a:pPr>
            <a:r>
              <a:rPr lang="en-US" altLang="ko-KR" sz="54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1. </a:t>
            </a:r>
            <a:r>
              <a:rPr lang="ko-KR" altLang="en-US" sz="54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팀원 소개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34F2E79-1426-F5D9-7A46-098281409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4687" y="3114657"/>
            <a:ext cx="5124294" cy="145302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B53A810-1AEA-5E91-9B86-F02B5A3E0ADF}"/>
              </a:ext>
            </a:extLst>
          </p:cNvPr>
          <p:cNvSpPr txBox="1"/>
          <p:nvPr/>
        </p:nvSpPr>
        <p:spPr>
          <a:xfrm>
            <a:off x="1227226" y="10531853"/>
            <a:ext cx="189936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ai</a:t>
            </a:r>
            <a:r>
              <a:rPr lang="ko-KR" altLang="en-US" sz="4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소프트웨어학부</a:t>
            </a:r>
            <a:r>
              <a:rPr lang="en-US" altLang="ko-KR" sz="4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sz="4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정보보안전공</a:t>
            </a:r>
            <a:r>
              <a:rPr lang="en-US" altLang="ko-KR" sz="4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 </a:t>
            </a:r>
            <a:r>
              <a:rPr lang="ko-KR" altLang="en-US" sz="4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승민규</a:t>
            </a:r>
          </a:p>
        </p:txBody>
      </p:sp>
      <p:pic>
        <p:nvPicPr>
          <p:cNvPr id="1026" name="Picture 2" descr="조선대학교 - 나무위키">
            <a:extLst>
              <a:ext uri="{FF2B5EF4-FFF2-40B4-BE49-F238E27FC236}">
                <a16:creationId xmlns:a16="http://schemas.microsoft.com/office/drawing/2014/main" id="{FF2C430A-1A1D-2EAD-A6C6-1E195181B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150" y="1432099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순천대학교 (2023 선정) : SW중심대학협의회(소프트웨어중심대학협의회)">
            <a:extLst>
              <a:ext uri="{FF2B5EF4-FFF2-40B4-BE49-F238E27FC236}">
                <a16:creationId xmlns:a16="http://schemas.microsoft.com/office/drawing/2014/main" id="{993D0160-AFC6-A722-2B40-474C7EFF8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7371" y="14261747"/>
            <a:ext cx="2494631" cy="220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전남대학교 - 나무위키">
            <a:extLst>
              <a:ext uri="{FF2B5EF4-FFF2-40B4-BE49-F238E27FC236}">
                <a16:creationId xmlns:a16="http://schemas.microsoft.com/office/drawing/2014/main" id="{9CEA29A2-1DBF-8415-0DD7-180007E47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223" y="1426174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안전보건관리부소개">
            <a:extLst>
              <a:ext uri="{FF2B5EF4-FFF2-40B4-BE49-F238E27FC236}">
                <a16:creationId xmlns:a16="http://schemas.microsoft.com/office/drawing/2014/main" id="{4B56BCC2-3235-C040-3A26-65BA0A7A3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100" y="14291370"/>
            <a:ext cx="2114550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국립군산대학교 - 나무위키">
            <a:extLst>
              <a:ext uri="{FF2B5EF4-FFF2-40B4-BE49-F238E27FC236}">
                <a16:creationId xmlns:a16="http://schemas.microsoft.com/office/drawing/2014/main" id="{A2174D29-3D0F-F4A3-E52D-F673BC154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8024" y="1429137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모서리가 둥근 직사각형 81">
            <a:extLst>
              <a:ext uri="{FF2B5EF4-FFF2-40B4-BE49-F238E27FC236}">
                <a16:creationId xmlns:a16="http://schemas.microsoft.com/office/drawing/2014/main" id="{8A42A4FF-0CA3-914F-CA45-F64B7BACE2AF}"/>
              </a:ext>
            </a:extLst>
          </p:cNvPr>
          <p:cNvSpPr/>
          <p:nvPr/>
        </p:nvSpPr>
        <p:spPr>
          <a:xfrm>
            <a:off x="2256714" y="16767096"/>
            <a:ext cx="2569995" cy="9368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91213" tIns="45607" rIns="91213" bIns="45607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조선대학교</a:t>
            </a:r>
            <a:endParaRPr lang="en-US" altLang="ko-KR" sz="2800" b="1" spc="-49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승민규</a:t>
            </a:r>
          </a:p>
        </p:txBody>
      </p:sp>
      <p:sp>
        <p:nvSpPr>
          <p:cNvPr id="45" name="모서리가 둥근 직사각형 81">
            <a:extLst>
              <a:ext uri="{FF2B5EF4-FFF2-40B4-BE49-F238E27FC236}">
                <a16:creationId xmlns:a16="http://schemas.microsoft.com/office/drawing/2014/main" id="{B6874B18-D3C3-2858-88A0-56F001EF5284}"/>
              </a:ext>
            </a:extLst>
          </p:cNvPr>
          <p:cNvSpPr/>
          <p:nvPr/>
        </p:nvSpPr>
        <p:spPr>
          <a:xfrm>
            <a:off x="6021377" y="16767096"/>
            <a:ext cx="2569995" cy="9368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91213" tIns="45607" rIns="91213" bIns="45607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전북대학교</a:t>
            </a:r>
            <a:endParaRPr lang="en-US" altLang="ko-KR" sz="2800" b="1" spc="-49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0" b="1" spc="-49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황광호</a:t>
            </a:r>
            <a:endParaRPr lang="ko-KR" altLang="en-US" sz="2800" b="1" spc="-49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46" name="모서리가 둥근 직사각형 81">
            <a:extLst>
              <a:ext uri="{FF2B5EF4-FFF2-40B4-BE49-F238E27FC236}">
                <a16:creationId xmlns:a16="http://schemas.microsoft.com/office/drawing/2014/main" id="{D34231F3-6F88-7B65-01CD-B194A534F591}"/>
              </a:ext>
            </a:extLst>
          </p:cNvPr>
          <p:cNvSpPr/>
          <p:nvPr/>
        </p:nvSpPr>
        <p:spPr>
          <a:xfrm>
            <a:off x="9914787" y="16763623"/>
            <a:ext cx="2569995" cy="9368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91213" tIns="45607" rIns="91213" bIns="45607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전남대학교</a:t>
            </a:r>
            <a:endParaRPr lang="en-US" altLang="ko-KR" sz="2800" b="1" spc="-49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김종대</a:t>
            </a:r>
          </a:p>
        </p:txBody>
      </p:sp>
      <p:sp>
        <p:nvSpPr>
          <p:cNvPr id="48" name="모서리가 둥근 직사각형 81">
            <a:extLst>
              <a:ext uri="{FF2B5EF4-FFF2-40B4-BE49-F238E27FC236}">
                <a16:creationId xmlns:a16="http://schemas.microsoft.com/office/drawing/2014/main" id="{270598E4-2139-2A0E-085D-55AFD7A756A3}"/>
              </a:ext>
            </a:extLst>
          </p:cNvPr>
          <p:cNvSpPr/>
          <p:nvPr/>
        </p:nvSpPr>
        <p:spPr>
          <a:xfrm>
            <a:off x="13556091" y="16774356"/>
            <a:ext cx="2569995" cy="9368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91213" tIns="45607" rIns="91213" bIns="45607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순천대학교</a:t>
            </a:r>
            <a:endParaRPr lang="en-US" altLang="ko-KR" sz="2800" b="1" spc="-49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0" b="1" spc="-49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전한나</a:t>
            </a:r>
            <a:endParaRPr lang="ko-KR" altLang="en-US" sz="2800" b="1" spc="-49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49" name="모서리가 둥근 직사각형 81">
            <a:extLst>
              <a:ext uri="{FF2B5EF4-FFF2-40B4-BE49-F238E27FC236}">
                <a16:creationId xmlns:a16="http://schemas.microsoft.com/office/drawing/2014/main" id="{4E316F76-E690-8DE7-E3CA-F6CB44C728C9}"/>
              </a:ext>
            </a:extLst>
          </p:cNvPr>
          <p:cNvSpPr/>
          <p:nvPr/>
        </p:nvSpPr>
        <p:spPr>
          <a:xfrm>
            <a:off x="17300785" y="16788870"/>
            <a:ext cx="2569995" cy="9368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91213" tIns="45607" rIns="91213" bIns="45607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군산대학교</a:t>
            </a:r>
            <a:endParaRPr lang="en-US" altLang="ko-KR" sz="2800" b="1" spc="-49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이송은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E594F1A-D49C-072C-111B-128262660E33}"/>
              </a:ext>
            </a:extLst>
          </p:cNvPr>
          <p:cNvSpPr>
            <a:spLocks/>
          </p:cNvSpPr>
          <p:nvPr/>
        </p:nvSpPr>
        <p:spPr>
          <a:xfrm>
            <a:off x="1370246" y="18366034"/>
            <a:ext cx="18721153" cy="1377273"/>
          </a:xfrm>
          <a:prstGeom prst="roundRect">
            <a:avLst>
              <a:gd name="adj" fmla="val 50000"/>
            </a:avLst>
          </a:prstGeom>
          <a:solidFill>
            <a:srgbClr val="103C95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254000" tIns="45720" rIns="254000" bIns="45720" numCol="1" anchor="ctr">
            <a:noAutofit/>
          </a:bodyPr>
          <a:lstStyle/>
          <a:p>
            <a:pPr defTabSz="2190115">
              <a:defRPr/>
            </a:pPr>
            <a:r>
              <a:rPr lang="en-US" altLang="ko-KR" sz="54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2. </a:t>
            </a:r>
            <a:r>
              <a:rPr lang="ko-KR" altLang="en-US" sz="54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아이디어 배경</a:t>
            </a:r>
          </a:p>
        </p:txBody>
      </p:sp>
      <p:sp>
        <p:nvSpPr>
          <p:cNvPr id="57" name="Freeform 11">
            <a:extLst>
              <a:ext uri="{FF2B5EF4-FFF2-40B4-BE49-F238E27FC236}">
                <a16:creationId xmlns:a16="http://schemas.microsoft.com/office/drawing/2014/main" id="{09E1BA73-640D-DDE8-4DA7-8E8612C57EE0}"/>
              </a:ext>
            </a:extLst>
          </p:cNvPr>
          <p:cNvSpPr/>
          <p:nvPr/>
        </p:nvSpPr>
        <p:spPr>
          <a:xfrm rot="420000">
            <a:off x="6991397" y="20198978"/>
            <a:ext cx="3775443" cy="3775443"/>
          </a:xfrm>
          <a:custGeom>
            <a:avLst/>
            <a:gdLst/>
            <a:ahLst/>
            <a:cxnLst/>
            <a:rect l="l" t="t" r="r" b="b"/>
            <a:pathLst>
              <a:path w="3775443" h="3775443">
                <a:moveTo>
                  <a:pt x="0" y="0"/>
                </a:moveTo>
                <a:lnTo>
                  <a:pt x="3775443" y="0"/>
                </a:lnTo>
                <a:lnTo>
                  <a:pt x="3775443" y="3775443"/>
                </a:lnTo>
                <a:lnTo>
                  <a:pt x="0" y="37754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5" name="Freeform 15">
            <a:extLst>
              <a:ext uri="{FF2B5EF4-FFF2-40B4-BE49-F238E27FC236}">
                <a16:creationId xmlns:a16="http://schemas.microsoft.com/office/drawing/2014/main" id="{7C7E1D8D-E411-1E8D-63A2-EB836698F915}"/>
              </a:ext>
            </a:extLst>
          </p:cNvPr>
          <p:cNvSpPr/>
          <p:nvPr/>
        </p:nvSpPr>
        <p:spPr>
          <a:xfrm>
            <a:off x="2200538" y="20528753"/>
            <a:ext cx="6058091" cy="6308161"/>
          </a:xfrm>
          <a:custGeom>
            <a:avLst/>
            <a:gdLst/>
            <a:ahLst/>
            <a:cxnLst/>
            <a:rect l="l" t="t" r="r" b="b"/>
            <a:pathLst>
              <a:path w="3820839" h="4135498">
                <a:moveTo>
                  <a:pt x="0" y="0"/>
                </a:moveTo>
                <a:lnTo>
                  <a:pt x="3820839" y="0"/>
                </a:lnTo>
                <a:lnTo>
                  <a:pt x="3820839" y="4135498"/>
                </a:lnTo>
                <a:lnTo>
                  <a:pt x="0" y="41354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AF4107AC-10C5-D2A2-FCE0-92D7C3E22F04}"/>
              </a:ext>
            </a:extLst>
          </p:cNvPr>
          <p:cNvGrpSpPr/>
          <p:nvPr/>
        </p:nvGrpSpPr>
        <p:grpSpPr>
          <a:xfrm>
            <a:off x="11439155" y="20365243"/>
            <a:ext cx="8952314" cy="6308161"/>
            <a:chOff x="16740755" y="34342148"/>
            <a:chExt cx="15750920" cy="1779535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428D9730-49EC-9A5C-827F-728F5AD00979}"/>
                </a:ext>
              </a:extLst>
            </p:cNvPr>
            <p:cNvSpPr/>
            <p:nvPr/>
          </p:nvSpPr>
          <p:spPr>
            <a:xfrm>
              <a:off x="16740755" y="34342148"/>
              <a:ext cx="14464226" cy="17795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000" spc="-40" dirty="0"/>
            </a:p>
          </p:txBody>
        </p:sp>
        <p:sp>
          <p:nvSpPr>
            <p:cNvPr id="60" name="모서리가 둥근 직사각형 81">
              <a:extLst>
                <a:ext uri="{FF2B5EF4-FFF2-40B4-BE49-F238E27FC236}">
                  <a16:creationId xmlns:a16="http://schemas.microsoft.com/office/drawing/2014/main" id="{56B55B4B-F59A-68EA-5013-E28A8248CF95}"/>
                </a:ext>
              </a:extLst>
            </p:cNvPr>
            <p:cNvSpPr/>
            <p:nvPr/>
          </p:nvSpPr>
          <p:spPr>
            <a:xfrm>
              <a:off x="17398817" y="34426811"/>
              <a:ext cx="1077014" cy="144193"/>
            </a:xfrm>
            <a:prstGeom prst="roundRect">
              <a:avLst>
                <a:gd name="adj" fmla="val 16055"/>
              </a:avLst>
            </a:prstGeom>
            <a:solidFill>
              <a:schemeClr val="accent5"/>
            </a:solidFill>
            <a:ln w="28575">
              <a:noFill/>
            </a:ln>
            <a:effectLst/>
            <a:scene3d>
              <a:camera prst="orthographicFront"/>
              <a:lightRig rig="threePt" dir="t"/>
            </a:scene3d>
            <a:sp3d prstMaterial="matte"/>
          </p:spPr>
          <p:txBody>
            <a:bodyPr vert="horz" wrap="square" lIns="60810" tIns="30405" rIns="60810" bIns="30405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57669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2000" b="1" spc="-40" dirty="0">
                  <a:ln>
                    <a:solidFill>
                      <a:schemeClr val="bg1">
                        <a:lumMod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  <a:cs typeface="Arial" pitchFamily="34" charset="0"/>
                </a:rPr>
                <a:t>01</a:t>
              </a:r>
              <a:endParaRPr lang="ko-KR" altLang="en-US" sz="2000" b="1" spc="-4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itchFamily="34" charset="0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B902F16E-34E7-9A31-BA05-ADCFAF40C5A6}"/>
                </a:ext>
              </a:extLst>
            </p:cNvPr>
            <p:cNvSpPr/>
            <p:nvPr/>
          </p:nvSpPr>
          <p:spPr>
            <a:xfrm>
              <a:off x="19278635" y="34621220"/>
              <a:ext cx="13213040" cy="198898"/>
            </a:xfrm>
            <a:prstGeom prst="rect">
              <a:avLst/>
            </a:prstGeom>
          </p:spPr>
          <p:txBody>
            <a:bodyPr wrap="square" lIns="66712" tIns="33356" rIns="66712" bIns="33356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latinLnBrk="0">
                <a:lnSpc>
                  <a:spcPct val="120000"/>
                </a:lnSpc>
              </a:pPr>
              <a:r>
                <a:rPr lang="ko-KR" altLang="en-US" sz="2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그림책은 어린이들에게 필수이지만</a:t>
              </a:r>
              <a:r>
                <a:rPr lang="en-US" altLang="ko-KR" sz="2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 sz="2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한 권에 </a:t>
              </a:r>
              <a:r>
                <a:rPr lang="en-US" altLang="ko-KR" sz="2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1~2</a:t>
              </a:r>
              <a:r>
                <a:rPr lang="ko-KR" altLang="en-US" sz="2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만원의 </a:t>
              </a:r>
              <a:endParaRPr lang="en-US" altLang="ko-KR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endParaRPr>
            </a:p>
            <a:p>
              <a:pPr marL="0" lvl="1" latinLnBrk="0">
                <a:lnSpc>
                  <a:spcPct val="120000"/>
                </a:lnSpc>
              </a:pPr>
              <a:r>
                <a:rPr lang="ko-KR" altLang="en-US" sz="2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그림책을 수십</a:t>
              </a:r>
              <a:r>
                <a:rPr lang="en-US" altLang="ko-KR" sz="2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~</a:t>
              </a:r>
              <a:r>
                <a:rPr lang="ko-KR" altLang="en-US" sz="2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수백권을 사주기에는 부담스러운 가격입니다</a:t>
              </a:r>
              <a:r>
                <a:rPr lang="en-US" altLang="ko-KR" sz="2000" b="1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anose="020B0604020202020204" pitchFamily="34" charset="0"/>
                </a:rPr>
                <a:t>. </a:t>
              </a:r>
            </a:p>
          </p:txBody>
        </p:sp>
      </p:grpSp>
      <p:sp>
        <p:nvSpPr>
          <p:cNvPr id="62" name="모서리가 둥근 직사각형 81">
            <a:extLst>
              <a:ext uri="{FF2B5EF4-FFF2-40B4-BE49-F238E27FC236}">
                <a16:creationId xmlns:a16="http://schemas.microsoft.com/office/drawing/2014/main" id="{5D7CFA68-D670-601D-E349-C1381D107A1C}"/>
              </a:ext>
            </a:extLst>
          </p:cNvPr>
          <p:cNvSpPr/>
          <p:nvPr/>
        </p:nvSpPr>
        <p:spPr>
          <a:xfrm>
            <a:off x="12881604" y="20671037"/>
            <a:ext cx="6149346" cy="5077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91213" tIns="45607" rIns="91213" bIns="45607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4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부담되는 가격</a:t>
            </a:r>
          </a:p>
        </p:txBody>
      </p:sp>
      <p:sp>
        <p:nvSpPr>
          <p:cNvPr id="63" name="모서리가 둥근 직사각형 81">
            <a:extLst>
              <a:ext uri="{FF2B5EF4-FFF2-40B4-BE49-F238E27FC236}">
                <a16:creationId xmlns:a16="http://schemas.microsoft.com/office/drawing/2014/main" id="{022C7032-F85B-AEBD-3696-ADB8EBA13F77}"/>
              </a:ext>
            </a:extLst>
          </p:cNvPr>
          <p:cNvSpPr/>
          <p:nvPr/>
        </p:nvSpPr>
        <p:spPr>
          <a:xfrm>
            <a:off x="11842204" y="22654657"/>
            <a:ext cx="612140" cy="562024"/>
          </a:xfrm>
          <a:prstGeom prst="roundRect">
            <a:avLst>
              <a:gd name="adj" fmla="val 16055"/>
            </a:avLst>
          </a:prstGeom>
          <a:solidFill>
            <a:schemeClr val="accent5"/>
          </a:solidFill>
          <a:ln w="28575">
            <a:noFill/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60810" tIns="30405" rIns="60810" bIns="30405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669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spc="-4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itchFamily="34" charset="0"/>
              </a:rPr>
              <a:t>02</a:t>
            </a:r>
            <a:endParaRPr lang="ko-KR" altLang="en-US" sz="2000" b="1" spc="-4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1024" name="모서리가 둥근 직사각형 81">
            <a:extLst>
              <a:ext uri="{FF2B5EF4-FFF2-40B4-BE49-F238E27FC236}">
                <a16:creationId xmlns:a16="http://schemas.microsoft.com/office/drawing/2014/main" id="{ABD0B6BD-71B7-FC96-3B89-9F68EC3C952E}"/>
              </a:ext>
            </a:extLst>
          </p:cNvPr>
          <p:cNvSpPr/>
          <p:nvPr/>
        </p:nvSpPr>
        <p:spPr>
          <a:xfrm>
            <a:off x="12881604" y="22654657"/>
            <a:ext cx="6149346" cy="5077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91213" tIns="45607" rIns="91213" bIns="45607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4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처치 곤란한 그림책들</a:t>
            </a:r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51ECDCBE-78CC-2C32-3C26-F5129CBFA163}"/>
              </a:ext>
            </a:extLst>
          </p:cNvPr>
          <p:cNvSpPr/>
          <p:nvPr/>
        </p:nvSpPr>
        <p:spPr>
          <a:xfrm>
            <a:off x="13041299" y="23415156"/>
            <a:ext cx="7509865" cy="775250"/>
          </a:xfrm>
          <a:prstGeom prst="rect">
            <a:avLst/>
          </a:prstGeom>
        </p:spPr>
        <p:txBody>
          <a:bodyPr wrap="square" lIns="66712" tIns="33356" rIns="66712" bIns="33356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latinLnBrk="0">
              <a:lnSpc>
                <a:spcPct val="120000"/>
              </a:lnSpc>
            </a:pP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잠깐 좋아하다가 필요했던 시기가 지나면 자연스럽게 </a:t>
            </a:r>
            <a:endParaRPr lang="en-US" altLang="ko-KR" sz="2000" b="1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0" lvl="1" latinLnBrk="0">
              <a:lnSpc>
                <a:spcPct val="120000"/>
              </a:lnSpc>
            </a:pP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읽히지 않는 처치 곤란한 그림책들이</a:t>
            </a:r>
            <a:r>
              <a:rPr lang="en-US" altLang="ko-KR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</a:t>
            </a: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쌓여갑니다</a:t>
            </a:r>
            <a:r>
              <a:rPr lang="en-US" altLang="ko-KR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.  </a:t>
            </a:r>
          </a:p>
        </p:txBody>
      </p:sp>
      <p:sp>
        <p:nvSpPr>
          <p:cNvPr id="1027" name="모서리가 둥근 직사각형 81">
            <a:extLst>
              <a:ext uri="{FF2B5EF4-FFF2-40B4-BE49-F238E27FC236}">
                <a16:creationId xmlns:a16="http://schemas.microsoft.com/office/drawing/2014/main" id="{29B80F1D-A6AB-9305-78E1-42825F27A724}"/>
              </a:ext>
            </a:extLst>
          </p:cNvPr>
          <p:cNvSpPr/>
          <p:nvPr/>
        </p:nvSpPr>
        <p:spPr>
          <a:xfrm>
            <a:off x="11850370" y="24773017"/>
            <a:ext cx="612140" cy="562024"/>
          </a:xfrm>
          <a:prstGeom prst="roundRect">
            <a:avLst>
              <a:gd name="adj" fmla="val 16055"/>
            </a:avLst>
          </a:prstGeom>
          <a:solidFill>
            <a:schemeClr val="accent5"/>
          </a:solidFill>
          <a:ln w="28575">
            <a:noFill/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60810" tIns="30405" rIns="60810" bIns="30405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669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spc="-4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itchFamily="34" charset="0"/>
              </a:rPr>
              <a:t>03</a:t>
            </a:r>
            <a:endParaRPr lang="ko-KR" altLang="en-US" sz="2000" b="1" spc="-4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1029" name="모서리가 둥근 직사각형 81">
            <a:extLst>
              <a:ext uri="{FF2B5EF4-FFF2-40B4-BE49-F238E27FC236}">
                <a16:creationId xmlns:a16="http://schemas.microsoft.com/office/drawing/2014/main" id="{A35DE899-383B-DAFC-6020-73C971C0D8BA}"/>
              </a:ext>
            </a:extLst>
          </p:cNvPr>
          <p:cNvSpPr/>
          <p:nvPr/>
        </p:nvSpPr>
        <p:spPr>
          <a:xfrm>
            <a:off x="12885414" y="24776827"/>
            <a:ext cx="6149346" cy="5077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solidFill>
              <a:schemeClr val="bg1">
                <a:lumMod val="65000"/>
              </a:schemeClr>
            </a:solidFill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91213" tIns="45607" rIns="91213" bIns="45607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64943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400" b="1" spc="-49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나눔고딕" pitchFamily="50" charset="-127"/>
                <a:ea typeface="나눔고딕" pitchFamily="50" charset="-127"/>
                <a:cs typeface="Arial" pitchFamily="34" charset="0"/>
              </a:rPr>
              <a:t>구매 실패의 위험</a:t>
            </a:r>
          </a:p>
        </p:txBody>
      </p:sp>
      <p:sp>
        <p:nvSpPr>
          <p:cNvPr id="1031" name="직사각형 1030">
            <a:extLst>
              <a:ext uri="{FF2B5EF4-FFF2-40B4-BE49-F238E27FC236}">
                <a16:creationId xmlns:a16="http://schemas.microsoft.com/office/drawing/2014/main" id="{08C037DB-A706-1C28-A9D9-6E94239EB84B}"/>
              </a:ext>
            </a:extLst>
          </p:cNvPr>
          <p:cNvSpPr/>
          <p:nvPr/>
        </p:nvSpPr>
        <p:spPr>
          <a:xfrm>
            <a:off x="13041299" y="25524101"/>
            <a:ext cx="7509865" cy="775250"/>
          </a:xfrm>
          <a:prstGeom prst="rect">
            <a:avLst/>
          </a:prstGeom>
        </p:spPr>
        <p:txBody>
          <a:bodyPr wrap="square" lIns="66712" tIns="33356" rIns="66712" bIns="33356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latinLnBrk="0">
              <a:lnSpc>
                <a:spcPct val="120000"/>
              </a:lnSpc>
            </a:pP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아이의 취향에 맞지 않아 몇 번 펼쳐보지도 않고 방치되는</a:t>
            </a:r>
            <a:endParaRPr lang="en-US" altLang="ko-KR" sz="2000" b="1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0" lvl="1" latinLnBrk="0">
              <a:lnSpc>
                <a:spcPct val="120000"/>
              </a:lnSpc>
            </a:pP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책들이 많습니다</a:t>
            </a:r>
            <a:r>
              <a:rPr lang="en-US" altLang="ko-KR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33" name="사각형: 둥근 모서리 1032">
            <a:extLst>
              <a:ext uri="{FF2B5EF4-FFF2-40B4-BE49-F238E27FC236}">
                <a16:creationId xmlns:a16="http://schemas.microsoft.com/office/drawing/2014/main" id="{041691CC-D0A7-78BB-A273-FCCE6513ED8E}"/>
              </a:ext>
            </a:extLst>
          </p:cNvPr>
          <p:cNvSpPr>
            <a:spLocks/>
          </p:cNvSpPr>
          <p:nvPr/>
        </p:nvSpPr>
        <p:spPr>
          <a:xfrm>
            <a:off x="1622248" y="27527765"/>
            <a:ext cx="18721153" cy="1377273"/>
          </a:xfrm>
          <a:prstGeom prst="roundRect">
            <a:avLst>
              <a:gd name="adj" fmla="val 50000"/>
            </a:avLst>
          </a:prstGeom>
          <a:solidFill>
            <a:srgbClr val="103C95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254000" tIns="45720" rIns="254000" bIns="45720" numCol="1" anchor="ctr">
            <a:noAutofit/>
          </a:bodyPr>
          <a:lstStyle/>
          <a:p>
            <a:pPr defTabSz="2190115">
              <a:defRPr/>
            </a:pPr>
            <a:r>
              <a:rPr lang="en-US" altLang="ko-KR" sz="54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3. </a:t>
            </a:r>
            <a:r>
              <a:rPr lang="ko-KR" altLang="en-US" sz="54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주요 기능</a:t>
            </a:r>
          </a:p>
        </p:txBody>
      </p:sp>
      <p:sp>
        <p:nvSpPr>
          <p:cNvPr id="1035" name="Freeform 6">
            <a:extLst>
              <a:ext uri="{FF2B5EF4-FFF2-40B4-BE49-F238E27FC236}">
                <a16:creationId xmlns:a16="http://schemas.microsoft.com/office/drawing/2014/main" id="{FE21EDB4-2A2A-660A-F191-FC793103FF29}"/>
              </a:ext>
            </a:extLst>
          </p:cNvPr>
          <p:cNvSpPr/>
          <p:nvPr/>
        </p:nvSpPr>
        <p:spPr>
          <a:xfrm>
            <a:off x="1835163" y="29421406"/>
            <a:ext cx="9708768" cy="5064786"/>
          </a:xfrm>
          <a:custGeom>
            <a:avLst/>
            <a:gdLst/>
            <a:ahLst/>
            <a:cxnLst/>
            <a:rect l="l" t="t" r="r" b="b"/>
            <a:pathLst>
              <a:path w="13272021" h="7382561">
                <a:moveTo>
                  <a:pt x="0" y="0"/>
                </a:moveTo>
                <a:lnTo>
                  <a:pt x="13272021" y="0"/>
                </a:lnTo>
                <a:lnTo>
                  <a:pt x="13272021" y="7382561"/>
                </a:lnTo>
                <a:lnTo>
                  <a:pt x="0" y="73825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37" name="직사각형 1036">
            <a:extLst>
              <a:ext uri="{FF2B5EF4-FFF2-40B4-BE49-F238E27FC236}">
                <a16:creationId xmlns:a16="http://schemas.microsoft.com/office/drawing/2014/main" id="{04DA5E33-4D14-A419-1153-DB49490EFE1C}"/>
              </a:ext>
            </a:extLst>
          </p:cNvPr>
          <p:cNvSpPr/>
          <p:nvPr/>
        </p:nvSpPr>
        <p:spPr>
          <a:xfrm>
            <a:off x="11943915" y="30054628"/>
            <a:ext cx="8399485" cy="44315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000" spc="-40" dirty="0"/>
          </a:p>
        </p:txBody>
      </p:sp>
      <p:sp>
        <p:nvSpPr>
          <p:cNvPr id="1048" name="모서리가 둥근 직사각형 81">
            <a:extLst>
              <a:ext uri="{FF2B5EF4-FFF2-40B4-BE49-F238E27FC236}">
                <a16:creationId xmlns:a16="http://schemas.microsoft.com/office/drawing/2014/main" id="{8ADB781D-46F6-5B3C-D739-123554B67066}"/>
              </a:ext>
            </a:extLst>
          </p:cNvPr>
          <p:cNvSpPr/>
          <p:nvPr/>
        </p:nvSpPr>
        <p:spPr>
          <a:xfrm>
            <a:off x="12425316" y="32007469"/>
            <a:ext cx="696628" cy="574919"/>
          </a:xfrm>
          <a:prstGeom prst="roundRect">
            <a:avLst>
              <a:gd name="adj" fmla="val 16055"/>
            </a:avLst>
          </a:prstGeom>
          <a:solidFill>
            <a:schemeClr val="accent5"/>
          </a:solidFill>
          <a:ln w="28575">
            <a:noFill/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60810" tIns="30405" rIns="60810" bIns="30405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669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spc="-4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itchFamily="34" charset="0"/>
              </a:rPr>
              <a:t>02</a:t>
            </a:r>
            <a:endParaRPr lang="ko-KR" altLang="en-US" sz="2000" b="1" spc="-4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1049" name="직사각형 1048">
            <a:extLst>
              <a:ext uri="{FF2B5EF4-FFF2-40B4-BE49-F238E27FC236}">
                <a16:creationId xmlns:a16="http://schemas.microsoft.com/office/drawing/2014/main" id="{1E9734C7-E08F-95E1-C842-AEFBB0498ED3}"/>
              </a:ext>
            </a:extLst>
          </p:cNvPr>
          <p:cNvSpPr/>
          <p:nvPr/>
        </p:nvSpPr>
        <p:spPr>
          <a:xfrm>
            <a:off x="13371510" y="32055982"/>
            <a:ext cx="7309978" cy="405918"/>
          </a:xfrm>
          <a:prstGeom prst="rect">
            <a:avLst/>
          </a:prstGeom>
        </p:spPr>
        <p:txBody>
          <a:bodyPr wrap="square" lIns="66712" tIns="33356" rIns="66712" bIns="33356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latinLnBrk="0">
              <a:lnSpc>
                <a:spcPct val="120000"/>
              </a:lnSpc>
            </a:pPr>
            <a:r>
              <a:rPr lang="en-US" altLang="ko-KR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Gemini </a:t>
            </a: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이미지 생성 모델을 활용한 스토리 기반 이미지 생성</a:t>
            </a:r>
            <a:endParaRPr lang="en-US" altLang="ko-KR" sz="2000" b="1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050" name="모서리가 둥근 직사각형 81">
            <a:extLst>
              <a:ext uri="{FF2B5EF4-FFF2-40B4-BE49-F238E27FC236}">
                <a16:creationId xmlns:a16="http://schemas.microsoft.com/office/drawing/2014/main" id="{A5625D8B-66F9-A3FF-2517-4EA8FF3E6DED}"/>
              </a:ext>
            </a:extLst>
          </p:cNvPr>
          <p:cNvSpPr/>
          <p:nvPr/>
        </p:nvSpPr>
        <p:spPr>
          <a:xfrm>
            <a:off x="12425316" y="33345370"/>
            <a:ext cx="696628" cy="574919"/>
          </a:xfrm>
          <a:prstGeom prst="roundRect">
            <a:avLst>
              <a:gd name="adj" fmla="val 16055"/>
            </a:avLst>
          </a:prstGeom>
          <a:solidFill>
            <a:schemeClr val="accent5"/>
          </a:solidFill>
          <a:ln w="28575">
            <a:noFill/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60810" tIns="30405" rIns="60810" bIns="30405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669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spc="-4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itchFamily="34" charset="0"/>
              </a:rPr>
              <a:t>03</a:t>
            </a:r>
            <a:endParaRPr lang="ko-KR" altLang="en-US" sz="2000" b="1" spc="-4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1051" name="직사각형 1050">
            <a:extLst>
              <a:ext uri="{FF2B5EF4-FFF2-40B4-BE49-F238E27FC236}">
                <a16:creationId xmlns:a16="http://schemas.microsoft.com/office/drawing/2014/main" id="{50BE61A3-34B6-A147-1FD2-6EB564D98139}"/>
              </a:ext>
            </a:extLst>
          </p:cNvPr>
          <p:cNvSpPr/>
          <p:nvPr/>
        </p:nvSpPr>
        <p:spPr>
          <a:xfrm>
            <a:off x="13371510" y="33353635"/>
            <a:ext cx="7309978" cy="775250"/>
          </a:xfrm>
          <a:prstGeom prst="rect">
            <a:avLst/>
          </a:prstGeom>
        </p:spPr>
        <p:txBody>
          <a:bodyPr wrap="square" lIns="66712" tIns="33356" rIns="66712" bIns="33356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latinLnBrk="0">
              <a:lnSpc>
                <a:spcPct val="120000"/>
              </a:lnSpc>
            </a:pPr>
            <a:r>
              <a:rPr lang="en-US" altLang="ko-KR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CLOVA Voice</a:t>
            </a: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를 통한 아이들에게 친숙한 목소리로 책을 읽어주는 </a:t>
            </a:r>
            <a:r>
              <a:rPr lang="ko-KR" altLang="en-US" sz="2000" b="1" spc="-4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오디오북</a:t>
            </a: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기능 제공</a:t>
            </a:r>
            <a:endParaRPr lang="en-US" altLang="ko-KR" sz="2000" b="1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052" name="모서리가 둥근 직사각형 81">
            <a:extLst>
              <a:ext uri="{FF2B5EF4-FFF2-40B4-BE49-F238E27FC236}">
                <a16:creationId xmlns:a16="http://schemas.microsoft.com/office/drawing/2014/main" id="{B70C85D1-E82B-2086-8764-D897495A06BB}"/>
              </a:ext>
            </a:extLst>
          </p:cNvPr>
          <p:cNvSpPr/>
          <p:nvPr/>
        </p:nvSpPr>
        <p:spPr>
          <a:xfrm>
            <a:off x="12425316" y="30643231"/>
            <a:ext cx="696628" cy="529545"/>
          </a:xfrm>
          <a:prstGeom prst="roundRect">
            <a:avLst>
              <a:gd name="adj" fmla="val 16055"/>
            </a:avLst>
          </a:prstGeom>
          <a:solidFill>
            <a:schemeClr val="accent5"/>
          </a:solidFill>
          <a:ln w="28575">
            <a:noFill/>
          </a:ln>
          <a:effectLst/>
          <a:scene3d>
            <a:camera prst="orthographicFront"/>
            <a:lightRig rig="threePt" dir="t"/>
          </a:scene3d>
          <a:sp3d prstMaterial="matte"/>
        </p:spPr>
        <p:txBody>
          <a:bodyPr vert="horz" wrap="square" lIns="60810" tIns="30405" rIns="60810" bIns="30405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57669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spc="-4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itchFamily="34" charset="0"/>
              </a:rPr>
              <a:t>01</a:t>
            </a:r>
            <a:endParaRPr lang="ko-KR" altLang="en-US" sz="2000" b="1" spc="-4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나눔고딕" pitchFamily="50" charset="-127"/>
              <a:ea typeface="나눔고딕" pitchFamily="50" charset="-127"/>
              <a:cs typeface="Arial" pitchFamily="34" charset="0"/>
            </a:endParaRPr>
          </a:p>
        </p:txBody>
      </p:sp>
      <p:sp>
        <p:nvSpPr>
          <p:cNvPr id="1053" name="직사각형 1052">
            <a:extLst>
              <a:ext uri="{FF2B5EF4-FFF2-40B4-BE49-F238E27FC236}">
                <a16:creationId xmlns:a16="http://schemas.microsoft.com/office/drawing/2014/main" id="{F5BABA4C-47D9-4083-A644-AB5802523405}"/>
              </a:ext>
            </a:extLst>
          </p:cNvPr>
          <p:cNvSpPr/>
          <p:nvPr/>
        </p:nvSpPr>
        <p:spPr>
          <a:xfrm>
            <a:off x="13371510" y="30625215"/>
            <a:ext cx="7309978" cy="775250"/>
          </a:xfrm>
          <a:prstGeom prst="rect">
            <a:avLst/>
          </a:prstGeom>
        </p:spPr>
        <p:txBody>
          <a:bodyPr wrap="square" lIns="66712" tIns="33356" rIns="66712" bIns="33356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latinLnBrk="0">
              <a:lnSpc>
                <a:spcPct val="120000"/>
              </a:lnSpc>
            </a:pP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아이의 이름</a:t>
            </a:r>
            <a:r>
              <a:rPr lang="en-US" altLang="ko-KR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나이</a:t>
            </a:r>
            <a:r>
              <a:rPr lang="en-US" altLang="ko-KR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성격</a:t>
            </a:r>
            <a:r>
              <a:rPr lang="en-US" altLang="ko-KR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 </a:t>
            </a: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관심사를 반영하여 </a:t>
            </a:r>
            <a:r>
              <a:rPr lang="en-US" altLang="ko-KR" sz="2000" b="1" spc="-4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HyperCLOVA</a:t>
            </a:r>
            <a:r>
              <a:rPr lang="en-US" altLang="ko-KR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X</a:t>
            </a:r>
            <a:r>
              <a:rPr lang="ko-KR" altLang="en-US" sz="20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가 맞춤형 동화 내용 </a:t>
            </a:r>
            <a:r>
              <a:rPr lang="ko-KR" altLang="en-US" sz="2000" b="1" spc="-4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창착</a:t>
            </a:r>
            <a:endParaRPr lang="en-US" altLang="ko-KR" sz="2000" b="1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054" name="사각형: 둥근 모서리 1053">
            <a:extLst>
              <a:ext uri="{FF2B5EF4-FFF2-40B4-BE49-F238E27FC236}">
                <a16:creationId xmlns:a16="http://schemas.microsoft.com/office/drawing/2014/main" id="{EC62F32C-D6BC-48FB-A714-5D55B2E33E64}"/>
              </a:ext>
            </a:extLst>
          </p:cNvPr>
          <p:cNvSpPr>
            <a:spLocks/>
          </p:cNvSpPr>
          <p:nvPr/>
        </p:nvSpPr>
        <p:spPr>
          <a:xfrm>
            <a:off x="1639283" y="35148752"/>
            <a:ext cx="9038242" cy="1287564"/>
          </a:xfrm>
          <a:prstGeom prst="roundRect">
            <a:avLst>
              <a:gd name="adj" fmla="val 50000"/>
            </a:avLst>
          </a:prstGeom>
          <a:solidFill>
            <a:srgbClr val="103C95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254000" tIns="45720" rIns="254000" bIns="45720" numCol="1" anchor="ctr">
            <a:noAutofit/>
          </a:bodyPr>
          <a:lstStyle/>
          <a:p>
            <a:pPr defTabSz="2190115">
              <a:defRPr/>
            </a:pPr>
            <a:r>
              <a:rPr lang="en-US" altLang="ko-KR" sz="54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4. </a:t>
            </a:r>
            <a:r>
              <a:rPr lang="ko-KR" altLang="en-US" sz="54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아키텍처</a:t>
            </a:r>
          </a:p>
        </p:txBody>
      </p:sp>
      <p:sp>
        <p:nvSpPr>
          <p:cNvPr id="1055" name="Freeform 7">
            <a:extLst>
              <a:ext uri="{FF2B5EF4-FFF2-40B4-BE49-F238E27FC236}">
                <a16:creationId xmlns:a16="http://schemas.microsoft.com/office/drawing/2014/main" id="{532719CD-0245-60C8-6B6E-7EEB34363C53}"/>
              </a:ext>
            </a:extLst>
          </p:cNvPr>
          <p:cNvSpPr/>
          <p:nvPr/>
        </p:nvSpPr>
        <p:spPr>
          <a:xfrm>
            <a:off x="2673597" y="29762551"/>
            <a:ext cx="1207132" cy="666388"/>
          </a:xfrm>
          <a:custGeom>
            <a:avLst/>
            <a:gdLst/>
            <a:ahLst/>
            <a:cxnLst/>
            <a:rect l="l" t="t" r="r" b="b"/>
            <a:pathLst>
              <a:path w="1207132" h="666388">
                <a:moveTo>
                  <a:pt x="0" y="0"/>
                </a:moveTo>
                <a:lnTo>
                  <a:pt x="1207132" y="0"/>
                </a:lnTo>
                <a:lnTo>
                  <a:pt x="1207132" y="666388"/>
                </a:lnTo>
                <a:lnTo>
                  <a:pt x="0" y="6663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56" name="Freeform 9">
            <a:extLst>
              <a:ext uri="{FF2B5EF4-FFF2-40B4-BE49-F238E27FC236}">
                <a16:creationId xmlns:a16="http://schemas.microsoft.com/office/drawing/2014/main" id="{E4F53A4D-48A8-841A-D0AE-E518AD2138CE}"/>
              </a:ext>
            </a:extLst>
          </p:cNvPr>
          <p:cNvSpPr/>
          <p:nvPr/>
        </p:nvSpPr>
        <p:spPr>
          <a:xfrm>
            <a:off x="4073933" y="29791004"/>
            <a:ext cx="1212409" cy="574377"/>
          </a:xfrm>
          <a:custGeom>
            <a:avLst/>
            <a:gdLst/>
            <a:ahLst/>
            <a:cxnLst/>
            <a:rect l="l" t="t" r="r" b="b"/>
            <a:pathLst>
              <a:path w="1212409" h="574377">
                <a:moveTo>
                  <a:pt x="0" y="0"/>
                </a:moveTo>
                <a:lnTo>
                  <a:pt x="1212408" y="0"/>
                </a:lnTo>
                <a:lnTo>
                  <a:pt x="1212408" y="574376"/>
                </a:lnTo>
                <a:lnTo>
                  <a:pt x="0" y="5743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 dirty="0"/>
          </a:p>
        </p:txBody>
      </p:sp>
      <p:sp>
        <p:nvSpPr>
          <p:cNvPr id="1059" name="Freeform 8">
            <a:extLst>
              <a:ext uri="{FF2B5EF4-FFF2-40B4-BE49-F238E27FC236}">
                <a16:creationId xmlns:a16="http://schemas.microsoft.com/office/drawing/2014/main" id="{14E5116C-E756-6973-C6AA-9E3CEA5D3BF2}"/>
              </a:ext>
            </a:extLst>
          </p:cNvPr>
          <p:cNvSpPr/>
          <p:nvPr/>
        </p:nvSpPr>
        <p:spPr>
          <a:xfrm>
            <a:off x="3039892" y="32526444"/>
            <a:ext cx="839457" cy="693934"/>
          </a:xfrm>
          <a:custGeom>
            <a:avLst/>
            <a:gdLst/>
            <a:ahLst/>
            <a:cxnLst/>
            <a:rect l="l" t="t" r="r" b="b"/>
            <a:pathLst>
              <a:path w="839457" h="693934">
                <a:moveTo>
                  <a:pt x="0" y="0"/>
                </a:moveTo>
                <a:lnTo>
                  <a:pt x="839457" y="0"/>
                </a:lnTo>
                <a:lnTo>
                  <a:pt x="839457" y="693934"/>
                </a:lnTo>
                <a:lnTo>
                  <a:pt x="0" y="6939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60" name="Freeform 10">
            <a:extLst>
              <a:ext uri="{FF2B5EF4-FFF2-40B4-BE49-F238E27FC236}">
                <a16:creationId xmlns:a16="http://schemas.microsoft.com/office/drawing/2014/main" id="{D9E4F0FF-5E4B-EE30-E710-FAABFEDDC700}"/>
              </a:ext>
            </a:extLst>
          </p:cNvPr>
          <p:cNvSpPr/>
          <p:nvPr/>
        </p:nvSpPr>
        <p:spPr>
          <a:xfrm>
            <a:off x="4044398" y="32526444"/>
            <a:ext cx="860460" cy="654987"/>
          </a:xfrm>
          <a:custGeom>
            <a:avLst/>
            <a:gdLst/>
            <a:ahLst/>
            <a:cxnLst/>
            <a:rect l="l" t="t" r="r" b="b"/>
            <a:pathLst>
              <a:path w="860460" h="654987">
                <a:moveTo>
                  <a:pt x="0" y="0"/>
                </a:moveTo>
                <a:lnTo>
                  <a:pt x="860460" y="0"/>
                </a:lnTo>
                <a:lnTo>
                  <a:pt x="860460" y="654987"/>
                </a:lnTo>
                <a:lnTo>
                  <a:pt x="0" y="65498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061" name="Freeform 11">
            <a:extLst>
              <a:ext uri="{FF2B5EF4-FFF2-40B4-BE49-F238E27FC236}">
                <a16:creationId xmlns:a16="http://schemas.microsoft.com/office/drawing/2014/main" id="{DA7B28FD-5131-3389-19F2-DB830B476FD0}"/>
              </a:ext>
            </a:extLst>
          </p:cNvPr>
          <p:cNvSpPr/>
          <p:nvPr/>
        </p:nvSpPr>
        <p:spPr>
          <a:xfrm>
            <a:off x="7959772" y="33362618"/>
            <a:ext cx="1598895" cy="711032"/>
          </a:xfrm>
          <a:custGeom>
            <a:avLst/>
            <a:gdLst/>
            <a:ahLst/>
            <a:cxnLst/>
            <a:rect l="l" t="t" r="r" b="b"/>
            <a:pathLst>
              <a:path w="1598895" h="711032">
                <a:moveTo>
                  <a:pt x="0" y="0"/>
                </a:moveTo>
                <a:lnTo>
                  <a:pt x="1598895" y="0"/>
                </a:lnTo>
                <a:lnTo>
                  <a:pt x="1598895" y="711031"/>
                </a:lnTo>
                <a:lnTo>
                  <a:pt x="0" y="7110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069" name="그림 1068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6079B8-8318-4B44-3F90-784D97F29FD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35163" y="36796469"/>
            <a:ext cx="8440951" cy="5335245"/>
          </a:xfrm>
          <a:prstGeom prst="rect">
            <a:avLst/>
          </a:prstGeom>
        </p:spPr>
      </p:pic>
      <p:sp>
        <p:nvSpPr>
          <p:cNvPr id="1071" name="사각형: 둥근 모서리 1070">
            <a:extLst>
              <a:ext uri="{FF2B5EF4-FFF2-40B4-BE49-F238E27FC236}">
                <a16:creationId xmlns:a16="http://schemas.microsoft.com/office/drawing/2014/main" id="{A45BC5D8-8E9E-804A-9406-DCA9024875F3}"/>
              </a:ext>
            </a:extLst>
          </p:cNvPr>
          <p:cNvSpPr>
            <a:spLocks/>
          </p:cNvSpPr>
          <p:nvPr/>
        </p:nvSpPr>
        <p:spPr>
          <a:xfrm>
            <a:off x="11383979" y="35190955"/>
            <a:ext cx="9007489" cy="1287564"/>
          </a:xfrm>
          <a:prstGeom prst="roundRect">
            <a:avLst>
              <a:gd name="adj" fmla="val 50000"/>
            </a:avLst>
          </a:prstGeom>
          <a:solidFill>
            <a:srgbClr val="103C95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254000" tIns="45720" rIns="254000" bIns="45720" numCol="1" anchor="ctr">
            <a:noAutofit/>
          </a:bodyPr>
          <a:lstStyle/>
          <a:p>
            <a:pPr defTabSz="2190115">
              <a:defRPr/>
            </a:pPr>
            <a:r>
              <a:rPr lang="en-US" altLang="ko-KR" sz="54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5. </a:t>
            </a:r>
            <a:r>
              <a:rPr lang="ko-KR" altLang="en-US" sz="54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향후 개선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78A5BE9-7FA5-7CD1-0AAD-C5622230014A}"/>
              </a:ext>
            </a:extLst>
          </p:cNvPr>
          <p:cNvSpPr txBox="1"/>
          <p:nvPr/>
        </p:nvSpPr>
        <p:spPr>
          <a:xfrm>
            <a:off x="-1606810" y="3352058"/>
            <a:ext cx="189936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2025</a:t>
            </a:r>
            <a:r>
              <a:rPr lang="ko-KR" altLang="en-US" sz="54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년 호남권 </a:t>
            </a:r>
            <a:r>
              <a:rPr lang="en-US" altLang="ko-KR" sz="54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LLM </a:t>
            </a:r>
            <a:r>
              <a:rPr lang="ko-KR" altLang="en-US" sz="5400" b="1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해커톤</a:t>
            </a:r>
            <a:r>
              <a:rPr lang="ko-KR" altLang="en-US" sz="54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경진대회</a:t>
            </a:r>
          </a:p>
        </p:txBody>
      </p:sp>
      <p:sp>
        <p:nvSpPr>
          <p:cNvPr id="1073" name="직사각형 1072">
            <a:extLst>
              <a:ext uri="{FF2B5EF4-FFF2-40B4-BE49-F238E27FC236}">
                <a16:creationId xmlns:a16="http://schemas.microsoft.com/office/drawing/2014/main" id="{79A6431E-E387-AF32-8C2E-851CD1B90367}"/>
              </a:ext>
            </a:extLst>
          </p:cNvPr>
          <p:cNvSpPr/>
          <p:nvPr/>
        </p:nvSpPr>
        <p:spPr>
          <a:xfrm>
            <a:off x="11720972" y="37128382"/>
            <a:ext cx="7309978" cy="5194921"/>
          </a:xfrm>
          <a:prstGeom prst="rect">
            <a:avLst/>
          </a:prstGeom>
        </p:spPr>
        <p:txBody>
          <a:bodyPr wrap="square" lIns="66712" tIns="33356" rIns="66712" bIns="33356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45720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부모님의 목소리를 학습하여 엄마</a:t>
            </a:r>
            <a:r>
              <a:rPr lang="en-US" altLang="ko-KR" sz="28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,</a:t>
            </a:r>
            <a:r>
              <a:rPr lang="ko-KR" altLang="en-US" sz="28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아빠가 직접 읽어주는 듯한 음성 동화 생성  기능 추가</a:t>
            </a:r>
            <a:endParaRPr lang="en-US" altLang="ko-KR" sz="2800" b="1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lvl="1" indent="-45720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2800" b="1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lvl="1" indent="-45720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중간중간 아이가 직접 다음 행동을 선택하게 하는 게임형 동화 기능 추가</a:t>
            </a:r>
            <a:endParaRPr lang="en-US" altLang="ko-KR" sz="2800" b="1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lvl="1" indent="-45720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2800" b="1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lvl="1" indent="-45720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2800" b="1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아이의 얼굴 사진을 반영하여 동화 속 삽화 기능 추가</a:t>
            </a:r>
            <a:endParaRPr lang="en-US" altLang="ko-KR" sz="2800" b="1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lvl="1" indent="-45720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2800" b="1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lvl="1" indent="-45720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2800" b="1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074" name="사각형: 둥근 모서리 1073">
            <a:extLst>
              <a:ext uri="{FF2B5EF4-FFF2-40B4-BE49-F238E27FC236}">
                <a16:creationId xmlns:a16="http://schemas.microsoft.com/office/drawing/2014/main" id="{A8681762-0FE1-2C76-FB9F-CE027369F415}"/>
              </a:ext>
            </a:extLst>
          </p:cNvPr>
          <p:cNvSpPr>
            <a:spLocks/>
          </p:cNvSpPr>
          <p:nvPr/>
        </p:nvSpPr>
        <p:spPr>
          <a:xfrm>
            <a:off x="1502256" y="43035452"/>
            <a:ext cx="9038242" cy="1287564"/>
          </a:xfrm>
          <a:prstGeom prst="roundRect">
            <a:avLst>
              <a:gd name="adj" fmla="val 50000"/>
            </a:avLst>
          </a:prstGeom>
          <a:solidFill>
            <a:srgbClr val="103C95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254000" tIns="45720" rIns="254000" bIns="45720" numCol="1" anchor="ctr">
            <a:noAutofit/>
          </a:bodyPr>
          <a:lstStyle/>
          <a:p>
            <a:pPr defTabSz="2190115">
              <a:defRPr/>
            </a:pPr>
            <a:r>
              <a:rPr lang="en-US" altLang="ko-KR" sz="5400" b="1" dirty="0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6. </a:t>
            </a:r>
            <a:r>
              <a:rPr lang="ko-KR" altLang="en-US" sz="5400" b="1" dirty="0" err="1">
                <a:ln w="9525" cap="flat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느낀점</a:t>
            </a:r>
            <a:endParaRPr lang="ko-KR" altLang="en-US" sz="5400" b="1" dirty="0">
              <a:ln w="9525" cap="flat" cmpd="sng">
                <a:solidFill>
                  <a:schemeClr val="accent1">
                    <a:alpha val="0"/>
                  </a:schemeClr>
                </a:solidFill>
                <a:prstDash val="solid"/>
              </a:ln>
              <a:solidFill>
                <a:schemeClr val="bg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1075" name="Picture 12" descr="image">
            <a:extLst>
              <a:ext uri="{FF2B5EF4-FFF2-40B4-BE49-F238E27FC236}">
                <a16:creationId xmlns:a16="http://schemas.microsoft.com/office/drawing/2014/main" id="{5D19871F-40C7-64CE-ED1E-61E3D4261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6469" y="43158463"/>
            <a:ext cx="7939909" cy="529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8" name="직사각형 1077">
            <a:extLst>
              <a:ext uri="{FF2B5EF4-FFF2-40B4-BE49-F238E27FC236}">
                <a16:creationId xmlns:a16="http://schemas.microsoft.com/office/drawing/2014/main" id="{FB8AD5A3-0FBA-AD02-C725-D813A2656D52}"/>
              </a:ext>
            </a:extLst>
          </p:cNvPr>
          <p:cNvSpPr/>
          <p:nvPr/>
        </p:nvSpPr>
        <p:spPr>
          <a:xfrm>
            <a:off x="1921834" y="44934659"/>
            <a:ext cx="7927685" cy="2689620"/>
          </a:xfrm>
          <a:prstGeom prst="rect">
            <a:avLst/>
          </a:prstGeom>
        </p:spPr>
        <p:txBody>
          <a:bodyPr wrap="square" lIns="66712" tIns="33356" rIns="66712" bIns="33356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lnSpc>
                <a:spcPct val="120000"/>
              </a:lnSpc>
            </a:pP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처음에는 낯선 타 대학 학생들과 잘 맞을까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하는 걱정이 앞섰습니다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하지만 어색함도 잠시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개발에 대한 열정 하나로 밤을 새우며 빠르게 하나가 되었습니다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서로 다른 배경을 가진 우리가 모여 부족함을 채워준 덕분에 대상 이라는 기적을 만들 수 있었습니다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최고의 팀원들을 만나 행복했습니다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en-US" altLang="ko-KR" sz="2400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11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681</TotalTime>
  <Words>225</Words>
  <Application>Microsoft Office PowerPoint</Application>
  <PresentationFormat>사용자 지정</PresentationFormat>
  <Paragraphs>44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Pretendard ExtraBold</vt:lpstr>
      <vt:lpstr>Pretendard SemiBold</vt:lpstr>
      <vt:lpstr>나눔고딕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승민규</cp:lastModifiedBy>
  <cp:revision>20</cp:revision>
  <dcterms:created xsi:type="dcterms:W3CDTF">2025-09-16T03:07:22Z</dcterms:created>
  <dcterms:modified xsi:type="dcterms:W3CDTF">2025-12-11T20:34:47Z</dcterms:modified>
</cp:coreProperties>
</file>